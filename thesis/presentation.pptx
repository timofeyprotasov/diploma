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Lexen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448">
          <p15:clr>
            <a:srgbClr val="9AA0A6"/>
          </p15:clr>
        </p15:guide>
        <p15:guide id="2" pos="3312">
          <p15:clr>
            <a:srgbClr val="9AA0A6"/>
          </p15:clr>
        </p15:guide>
        <p15:guide id="3" pos="432">
          <p15:clr>
            <a:srgbClr val="9AA0A6"/>
          </p15:clr>
        </p15:guide>
        <p15:guide id="4" pos="5328">
          <p15:clr>
            <a:srgbClr val="9AA0A6"/>
          </p15:clr>
        </p15:guide>
        <p15:guide id="5" orient="horz" pos="1116">
          <p15:clr>
            <a:srgbClr val="9AA0A6"/>
          </p15:clr>
        </p15:guide>
        <p15:guide id="6" orient="horz" pos="641">
          <p15:clr>
            <a:srgbClr val="9AA0A6"/>
          </p15:clr>
        </p15:guide>
        <p15:guide id="7" orient="horz" pos="2937">
          <p15:clr>
            <a:srgbClr val="9AA0A6"/>
          </p15:clr>
        </p15:guide>
        <p15:guide id="8" orient="horz" pos="2700">
          <p15:clr>
            <a:srgbClr val="9AA0A6"/>
          </p15:clr>
        </p15:guide>
        <p15:guide id="9" orient="horz" pos="1447">
          <p15:clr>
            <a:srgbClr val="9AA0A6"/>
          </p15:clr>
        </p15:guide>
      </p15:sldGuideLst>
    </p:ext>
    <p:ext uri="GoogleSlidesCustomDataVersion2">
      <go:slidesCustomData xmlns:go="http://customooxmlschemas.google.com/" r:id="rId27" roundtripDataSignature="AMtx7mjywSf2WnqK/LCl/ZBMVwHCdP3M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/>
        <p:guide pos="3312"/>
        <p:guide pos="432"/>
        <p:guide pos="5328"/>
        <p:guide pos="1116" orient="horz"/>
        <p:guide pos="641" orient="horz"/>
        <p:guide pos="2937" orient="horz"/>
        <p:guide pos="2700" orient="horz"/>
        <p:guide pos="144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xend-bold.fntdata"/><Relationship Id="rId25" Type="http://schemas.openxmlformats.org/officeDocument/2006/relationships/font" Target="fonts/Lexend-regular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35bc5246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d35bc5246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35bc5246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d35bc5246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35bc52469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35bc52469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35bc52469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d35bc52469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34760e92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d34760e92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35bc5246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35bc5246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b="1" sz="5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2200"/>
          </a:p>
        </p:txBody>
      </p:sp>
      <p:cxnSp>
        <p:nvCxnSpPr>
          <p:cNvPr id="17" name="Google Shape;17;p15"/>
          <p:cNvCxnSpPr/>
          <p:nvPr/>
        </p:nvCxnSpPr>
        <p:spPr>
          <a:xfrm flipH="1" rot="10800000">
            <a:off x="300600" y="1017725"/>
            <a:ext cx="85317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44389" y="457800"/>
            <a:ext cx="1387911" cy="5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" name="Google Shape;2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b="0"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b="0"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b="0"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b="0"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b="0"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b="0"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b="0"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b="0"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b="0"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379050" y="864750"/>
            <a:ext cx="84534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n" sz="2600">
                <a:solidFill>
                  <a:srgbClr val="333333"/>
                </a:solidFill>
                <a:highlight>
                  <a:srgbClr val="FFFFFF"/>
                </a:highlight>
              </a:rPr>
              <a:t>Применение различных методов параметрически-эффективной тонкой настройки для адаптации языковых моделей для вопросно-ответных систем в предметной области на основе Compute-efficient Retrieval Augmented Fine-Tuning</a:t>
            </a:r>
            <a:endParaRPr b="0" sz="26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849400" y="3563400"/>
            <a:ext cx="731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941">
                <a:solidFill>
                  <a:schemeClr val="dk1"/>
                </a:solidFill>
              </a:rPr>
              <a:t>Магистерская диссертация</a:t>
            </a:r>
            <a:endParaRPr b="1" sz="194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941">
                <a:solidFill>
                  <a:schemeClr val="dk1"/>
                </a:solidFill>
              </a:rPr>
              <a:t>Студент: Протасов Т.М., M4238</a:t>
            </a:r>
            <a:endParaRPr b="1" sz="194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941">
                <a:solidFill>
                  <a:schemeClr val="dk1"/>
                </a:solidFill>
              </a:rPr>
              <a:t>Руководитель ВКР: Аксенов В.E., доцент, к. т. н.</a:t>
            </a:r>
            <a:endParaRPr b="1" sz="194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941">
                <a:solidFill>
                  <a:schemeClr val="dk1"/>
                </a:solidFill>
              </a:rPr>
              <a:t>Соруководитель ВКР: Мосягин И.Ю., преподаватель.</a:t>
            </a:r>
            <a:endParaRPr b="1" sz="1941">
              <a:solidFill>
                <a:schemeClr val="dk1"/>
              </a:solidFill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9375" y="48100"/>
            <a:ext cx="1685250" cy="66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"/>
          <p:cNvCxnSpPr/>
          <p:nvPr/>
        </p:nvCxnSpPr>
        <p:spPr>
          <a:xfrm>
            <a:off x="849400" y="864750"/>
            <a:ext cx="7347900" cy="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"/>
          <p:cNvCxnSpPr/>
          <p:nvPr/>
        </p:nvCxnSpPr>
        <p:spPr>
          <a:xfrm>
            <a:off x="865000" y="3563400"/>
            <a:ext cx="731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Контекст</a:t>
            </a:r>
            <a:endParaRPr/>
          </a:p>
        </p:txBody>
      </p:sp>
      <p:sp>
        <p:nvSpPr>
          <p:cNvPr id="66" name="Google Shape;6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"/>
              <a:t>‹#›</a:t>
            </a:fld>
            <a:endParaRPr sz="2200"/>
          </a:p>
        </p:txBody>
      </p:sp>
      <p:sp>
        <p:nvSpPr>
          <p:cNvPr id="67" name="Google Shape;67;p2"/>
          <p:cNvSpPr txBox="1"/>
          <p:nvPr/>
        </p:nvSpPr>
        <p:spPr>
          <a:xfrm>
            <a:off x="470750" y="1301450"/>
            <a:ext cx="79875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</a:t>
            </a: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(Large Language Model) показывают высокое качество в задачах </a:t>
            </a:r>
            <a:r>
              <a:rPr b="1"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QA</a:t>
            </a: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(question answering), но:</a:t>
            </a:r>
            <a:endParaRPr b="0" i="0" sz="18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плохо работают в </a:t>
            </a:r>
            <a:r>
              <a:rPr i="1"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узких доменах</a:t>
            </a:r>
            <a:endParaRPr i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не знают </a:t>
            </a:r>
            <a:r>
              <a:rPr i="1"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специфические знания</a:t>
            </a: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Причина</a:t>
            </a: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-"/>
            </a:pPr>
            <a:r>
              <a:rPr i="1"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pretraining</a:t>
            </a: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не покрывает доменную специфику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35bc52469_0_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Существующие решения</a:t>
            </a:r>
            <a:endParaRPr/>
          </a:p>
        </p:txBody>
      </p:sp>
      <p:sp>
        <p:nvSpPr>
          <p:cNvPr id="73" name="Google Shape;73;g3d35bc52469_0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"/>
              <a:t>‹#›</a:t>
            </a:fld>
            <a:endParaRPr sz="2200"/>
          </a:p>
        </p:txBody>
      </p:sp>
      <p:pic>
        <p:nvPicPr>
          <p:cNvPr id="74" name="Google Shape;74;g3d35bc52469_0_9" title="exists_0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100" y="1068200"/>
            <a:ext cx="7343775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d35bc52469_0_9"/>
          <p:cNvSpPr txBox="1"/>
          <p:nvPr/>
        </p:nvSpPr>
        <p:spPr>
          <a:xfrm>
            <a:off x="132000" y="4795325"/>
            <a:ext cx="832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Meta Platforms Inc. признана экстремистской организацией и запрещена на территории Российской Федерации </a:t>
            </a:r>
            <a:endParaRPr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35bc52469_0_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Проблема</a:t>
            </a:r>
            <a:endParaRPr/>
          </a:p>
        </p:txBody>
      </p:sp>
      <p:sp>
        <p:nvSpPr>
          <p:cNvPr id="81" name="Google Shape;81;g3d35bc52469_0_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"/>
              <a:t>‹#›</a:t>
            </a:fld>
            <a:endParaRPr sz="2200"/>
          </a:p>
        </p:txBody>
      </p:sp>
      <p:pic>
        <p:nvPicPr>
          <p:cNvPr id="82" name="Google Shape;82;g3d35bc52469_0_2" title="proble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2838" y="1872563"/>
            <a:ext cx="4581525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d35bc52469_0_2"/>
          <p:cNvSpPr txBox="1"/>
          <p:nvPr>
            <p:ph idx="1" type="body"/>
          </p:nvPr>
        </p:nvSpPr>
        <p:spPr>
          <a:xfrm>
            <a:off x="4641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Ключевая проблема - отсутствие знаний об оптимальности методов PEFT применительно к области RAFT: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К</a:t>
            </a:r>
            <a:r>
              <a:rPr lang="en"/>
              <a:t>ачество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Устойчивость к шуму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Ресурсы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Время обучения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/>
          <p:nvPr>
            <p:ph type="title"/>
          </p:nvPr>
        </p:nvSpPr>
        <p:spPr>
          <a:xfrm>
            <a:off x="320492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Цели и задачи исследования</a:t>
            </a:r>
            <a:r>
              <a:rPr lang="en"/>
              <a:t> </a:t>
            </a:r>
            <a:endParaRPr/>
          </a:p>
        </p:txBody>
      </p:sp>
      <p:sp>
        <p:nvSpPr>
          <p:cNvPr id="89" name="Google Shape;8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Целью ВКР является исследование влияния различных методов PEFT на эффективность RAFT QA-систем.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Задачи: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реализовать CRAFT pipeline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применить разные PEFT методы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провести сравнительный анализ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выявить оптимальные методы в различных условиях относительно заранее </a:t>
            </a:r>
            <a:r>
              <a:rPr lang="en"/>
              <a:t>определённых</a:t>
            </a:r>
            <a:r>
              <a:rPr lang="en"/>
              <a:t> метрик</a:t>
            </a:r>
            <a:endParaRPr/>
          </a:p>
        </p:txBody>
      </p:sp>
      <p:sp>
        <p:nvSpPr>
          <p:cNvPr id="90" name="Google Shape;9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"/>
              <a:t>‹#›</a:t>
            </a:fld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Решение задач</a:t>
            </a:r>
            <a:endParaRPr/>
          </a:p>
        </p:txBody>
      </p:sp>
      <p:sp>
        <p:nvSpPr>
          <p:cNvPr id="96" name="Google Shape;9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"/>
              <a:t>‹#›</a:t>
            </a:fld>
            <a:endParaRPr sz="2200"/>
          </a:p>
        </p:txBody>
      </p:sp>
      <p:pic>
        <p:nvPicPr>
          <p:cNvPr id="97" name="Google Shape;97;p5" title="exist_plan_wid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075850"/>
            <a:ext cx="7607900" cy="39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Полученные результаты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"/>
              <a:t>‹#›</a:t>
            </a:fld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35bc52469_2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Полученные результаты</a:t>
            </a:r>
            <a:endParaRPr/>
          </a:p>
        </p:txBody>
      </p:sp>
      <p:sp>
        <p:nvSpPr>
          <p:cNvPr id="109" name="Google Shape;109;g3d35bc52469_2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"/>
              <a:t>‹#›</a:t>
            </a:fld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35bc52469_2_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Полученные результаты</a:t>
            </a:r>
            <a:endParaRPr/>
          </a:p>
        </p:txBody>
      </p:sp>
      <p:sp>
        <p:nvSpPr>
          <p:cNvPr id="115" name="Google Shape;115;g3d35bc52469_2_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"/>
              <a:t>‹#›</a:t>
            </a:fld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34760e92b_1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Выводы</a:t>
            </a:r>
            <a:endParaRPr/>
          </a:p>
        </p:txBody>
      </p:sp>
      <p:sp>
        <p:nvSpPr>
          <p:cNvPr id="121" name="Google Shape;121;g3d34760e92b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"/>
              <a:t>‹#›</a:t>
            </a:fld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35bc52469_0_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Доделать</a:t>
            </a:r>
            <a:endParaRPr/>
          </a:p>
        </p:txBody>
      </p:sp>
      <p:sp>
        <p:nvSpPr>
          <p:cNvPr id="127" name="Google Shape;127;g3d35bc52469_0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"/>
              <a:t>‹#›</a:t>
            </a:fld>
            <a:endParaRPr sz="2200"/>
          </a:p>
        </p:txBody>
      </p:sp>
      <p:sp>
        <p:nvSpPr>
          <p:cNvPr id="128" name="Google Shape;128;g3d35bc52469_0_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Поставить эксперимент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Описать полученные результаты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Написать вывод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 thele 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